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6135713740480426"/>
          <c:y val="0.2"/>
          <c:w val="0.71864280387770318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Fuel scooter</c:v>
                </c:pt>
              </c:strCache>
            </c:strRef>
          </c:tx>
          <c:spPr>
            <a:solidFill>
              <a:srgbClr val="0B6B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Energy</c:v>
                </c:pt>
                <c:pt idx="1">
                  <c:v>Maintenance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1478</c:v>
                </c:pt>
                <c:pt idx="1">
                  <c:v>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EE-4EC5-9A79-C81C64B4D7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D-Lite E</c:v>
                </c:pt>
              </c:strCache>
            </c:strRef>
          </c:tx>
          <c:spPr>
            <a:solidFill>
              <a:srgbClr val="B5D4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Energy</c:v>
                </c:pt>
                <c:pt idx="1">
                  <c:v>Maintenance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236</c:v>
                </c:pt>
                <c:pt idx="1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EE-4EC5-9A79-C81C64B4D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2A1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758474402109132"/>
          <c:y val="0.92033581029644018"/>
          <c:w val="0.24483036516408604"/>
          <c:h val="6.5234175273545358E-2"/>
        </c:manualLayout>
      </c:layout>
      <c:overlay val="0"/>
    </c:legend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375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Big Boy D-Lite E 3000W product imagery and product page: https://www.samotorcycles.co.za/big-boy-d-lite-e-3000w
- Slide narrative and proposal framing are original work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Checkers Sixty60 home page (delivery promise): https://www.checkers.co.za/
- Shoprite 2026 Interim Results Presentation (Sixty60 H1 sales and growth): https://www.shopriteholdings.co.za/docs/interim-results-presentation-2026.pdf
- March 2026 petrol price reporting: https://www.thesouthafrican.com/news/here-are-the-official-petrol-and-diesel-prices-for-march-2026/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Vehicle battery capacity and recharge timing sourced from Big Boy D-Lite E 3000W spec sheet and product page.
- Fuel price anchor sourced from March 2026 petrol pricing report: https://www.thesouthafrican.com/news/here-are-the-official-petrol-and-diesel-prices-for-march-2026/
- Route economics, maintenance assumptions and scale-case calculations are internal illustrative estimates for pilot evaluation only; they must be validated against real Checkers route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Big Boy D-Lite E 3000W product imagery and product page: https://www.samotorcycles.co.za/big-boy-d-lite-e-3000w
- Solar charging imagery: https://insideevs.com/news/410026/envision-solar-ev-arc-off-grid-charging/
- Operating model, partner structure and service design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Big Boy D-Lite E 3000W product page: https://www.samotorcycles.co.za/big-boy-d-lite-e-3000w
- Big Boy D-Lite E 3000W specification PDF: https://content.storefront7.co.za/stores/za.co.storefront7.samotorcycles/products/d-lite-e-3000w/documents/big-boy-d-lite-e-3000w-specs.pdf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Pilot structure, timing and success criteria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Risk framework and control design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Proposal structure and executive decision framing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Big Boy D-Lite E product page and imagery: https://www.samotorcycles.co.za/big-boy-d-lite-e-3000w
- Partnership rationale and request structure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Negotiation structure, sequencing and draft term logic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Negotiation talk track is original work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Closing recommendations and sequence are original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73952"/>
            <a:ext cx="11548872" cy="36576"/>
          </a:xfrm>
          <a:prstGeom prst="rect">
            <a:avLst/>
          </a:prstGeom>
          <a:solidFill>
            <a:srgbClr val="DCE5D6"/>
          </a:solidFill>
          <a:ln w="12700">
            <a:solidFill>
              <a:srgbClr val="DCE5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28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Electric Delivery Infrastructure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pic>
        <p:nvPicPr>
          <p:cNvPr id="3" name="Image 0" descr="/mnt/data/bigboy-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234440"/>
            <a:ext cx="4114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5216" y="548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AF5E8"/>
          </a:solidFill>
          <a:ln w="12700">
            <a:solidFill>
              <a:srgbClr val="EAF5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7870" y="621792"/>
            <a:ext cx="1657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B3A"/>
                </a:solidFill>
              </a:rPr>
              <a:t>CHECKERS PILOT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" y="1056132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Solar-Powered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Fleet Pilot</a:t>
            </a:r>
            <a:endParaRPr lang="en-US" sz="3200" b="1" dirty="0"/>
          </a:p>
        </p:txBody>
      </p:sp>
      <p:sp>
        <p:nvSpPr>
          <p:cNvPr id="7" name="Text 4"/>
          <p:cNvSpPr/>
          <p:nvPr/>
        </p:nvSpPr>
        <p:spPr>
          <a:xfrm>
            <a:off x="585216" y="2907792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A 90-day test proposal to reduce delivery fuel exposure, build operating resilience, and validate e-mobility economics using the Big Boy D-Lite E 3000W platform.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585216" y="4293871"/>
            <a:ext cx="5739384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Prepared for enterprise delivery operations innovation in South Africa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" y="4768215"/>
            <a:ext cx="6647307" cy="0"/>
          </a:xfrm>
          <a:prstGeom prst="line">
            <a:avLst/>
          </a:prstGeom>
          <a:noFill/>
          <a:ln w="57150">
            <a:solidFill>
              <a:srgbClr val="B5D4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5013961"/>
            <a:ext cx="52947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63"/>
                </a:solidFill>
              </a:rPr>
              <a:t>Prepared by: Independent fleet integration partner - Milano SA (Pty) Ltd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D6B63"/>
                </a:solidFill>
              </a:rPr>
              <a:t>Date: 12 March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0" y="57652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Vehicle + Charging + Service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20050" y="6112383"/>
            <a:ext cx="3710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8DE"/>
                </a:solidFill>
              </a:rPr>
              <a:t>One operating model. Three moving parts integrated.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D0A398-6C06-A858-FCE6-B5967DB9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6405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Checkers should test this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7" y="936783"/>
            <a:ext cx="8472297" cy="25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not theoretical: the delivery engine is already large and fuel remains a live operating variable.</a:t>
            </a:r>
            <a:endParaRPr lang="en-US" sz="1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310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1D"/>
                </a:solidFill>
              </a:rPr>
              <a:t>Sixty60 is scaling fast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784604"/>
            <a:ext cx="3328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3A"/>
                </a:solidFill>
              </a:rPr>
              <a:t>Shoprite reported Sixty60 sales of R11.9bn for the half year, up 34.6% year on year.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78989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fast-growing demand engine puts pressure on delivery unit economics, route density, and fleet uptime.</a:t>
            </a:r>
          </a:p>
        </p:txBody>
      </p:sp>
      <p:sp>
        <p:nvSpPr>
          <p:cNvPr id="8" name="Shape 6"/>
          <p:cNvSpPr/>
          <p:nvPr/>
        </p:nvSpPr>
        <p:spPr>
          <a:xfrm>
            <a:off x="4498848" y="128016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1389888"/>
            <a:ext cx="25786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1D"/>
                </a:solidFill>
              </a:rPr>
              <a:t>Customer promise is speed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18304" y="1784604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6B3A"/>
                </a:solidFill>
              </a:rPr>
              <a:t>Checkers publicly promises “fast &amp; reliable delivery in as little as 60 minutes.”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24400" y="253365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Any fleet solution must preserve the customer promise while reducing cost and risk.</a:t>
            </a:r>
          </a:p>
        </p:txBody>
      </p:sp>
      <p:sp>
        <p:nvSpPr>
          <p:cNvPr id="12" name="Shape 10"/>
          <p:cNvSpPr/>
          <p:nvPr/>
        </p:nvSpPr>
        <p:spPr>
          <a:xfrm>
            <a:off x="8119872" y="1280160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389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1D"/>
                </a:solidFill>
              </a:rPr>
              <a:t>Fuel is still volatile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1855089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3A2E"/>
                </a:solidFill>
              </a:rPr>
              <a:t>March 2026 inland 95 petrol: R20.30/L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431161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Every stop-start scooter route compounds fuel exposure, especially at scale and during peak demand windows.</a:t>
            </a:r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11064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30193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1D"/>
                </a:solidFill>
              </a:rPr>
              <a:t>Strategic reading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8576" y="4299204"/>
            <a:ext cx="4034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Checkers does not need a full fleet conversion to learn something meaningful. It needs a controlled pilot on selected routes that measures three executive-level outputs:</a:t>
            </a:r>
          </a:p>
        </p:txBody>
      </p:sp>
      <p:sp>
        <p:nvSpPr>
          <p:cNvPr id="19" name="Shape 17"/>
          <p:cNvSpPr/>
          <p:nvPr/>
        </p:nvSpPr>
        <p:spPr>
          <a:xfrm>
            <a:off x="6263640" y="4005072"/>
            <a:ext cx="1600200" cy="1353312"/>
          </a:xfrm>
          <a:prstGeom prst="roundRect">
            <a:avLst>
              <a:gd name="adj" fmla="val 2703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418795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1D"/>
                </a:solidFill>
              </a:rPr>
              <a:t>Operating cost per bike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681728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63"/>
                </a:solidFill>
              </a:rPr>
              <a:t>Can electric lower route cost without harming service speed?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28432" y="4005072"/>
            <a:ext cx="1600200" cy="1353312"/>
          </a:xfrm>
          <a:prstGeom prst="roundRect">
            <a:avLst>
              <a:gd name="adj" fmla="val 2703"/>
            </a:avLst>
          </a:prstGeom>
          <a:solidFill>
            <a:srgbClr val="F6F8F4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418795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1D"/>
                </a:solidFill>
              </a:rPr>
              <a:t>Uptime under real conditions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15300" y="4567428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63"/>
                </a:solidFill>
              </a:rPr>
              <a:t>Can charging, maintenance and rider workflow stay reliable?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93224" y="4005072"/>
            <a:ext cx="1600200" cy="1353312"/>
          </a:xfrm>
          <a:prstGeom prst="roundRect">
            <a:avLst>
              <a:gd name="adj" fmla="val 2703"/>
            </a:avLst>
          </a:prstGeom>
          <a:solidFill>
            <a:srgbClr val="F6F8F4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40919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1D"/>
                </a:solidFill>
              </a:rPr>
              <a:t>Scale-readiness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02952" y="4567428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63"/>
                </a:solidFill>
              </a:rPr>
              <a:t>Can the model expand from 10 bikes to a province-wide fleet?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8BA6BEF-C207-FB1A-95DA-F532E4D0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route economics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726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slide that matters most to an operator: even a modest cost delta per bike compounds quickly.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658368" y="1106424"/>
            <a:ext cx="2407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Scenario assumption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474851"/>
            <a:ext cx="607504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80 km/day • 26 operating days/month • stop-start urban route • internal benchmark model for pilot screening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50200156"/>
              </p:ext>
            </p:extLst>
          </p:nvPr>
        </p:nvGraphicFramePr>
        <p:xfrm>
          <a:off x="0" y="1874520"/>
          <a:ext cx="6812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1234440"/>
            <a:ext cx="4617720" cy="145389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56501" y="1271016"/>
            <a:ext cx="35532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1D"/>
                </a:solidFill>
              </a:rPr>
              <a:t>Indicative monthly operating cost per unit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59168" y="1718501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B3A"/>
                </a:solidFill>
              </a:rPr>
              <a:t>≈ R1,600 saved per bike / month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59168" y="2295144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Before lease structuring and before pilot-specific service costs are negotiated.</a:t>
            </a:r>
          </a:p>
        </p:txBody>
      </p:sp>
      <p:sp>
        <p:nvSpPr>
          <p:cNvPr id="11" name="Shape 8"/>
          <p:cNvSpPr/>
          <p:nvPr/>
        </p:nvSpPr>
        <p:spPr>
          <a:xfrm>
            <a:off x="6812280" y="2926080"/>
            <a:ext cx="461772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12" name="Text 9"/>
          <p:cNvSpPr/>
          <p:nvPr/>
        </p:nvSpPr>
        <p:spPr>
          <a:xfrm>
            <a:off x="7056501" y="31546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1D"/>
                </a:solidFill>
              </a:rPr>
              <a:t>10-bike pilot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32520" y="31363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≈ R16k monthly OPEX delta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12280" y="3730752"/>
            <a:ext cx="4617720" cy="621792"/>
          </a:xfrm>
          <a:prstGeom prst="roundRect">
            <a:avLst>
              <a:gd name="adj" fmla="val 5882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59168" y="39502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1D"/>
                </a:solidFill>
              </a:rPr>
              <a:t>50-bike cluster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32520" y="3923919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≈ R80k monthly OPEX delta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12280" y="4535424"/>
            <a:ext cx="461772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56501" y="47640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1D"/>
                </a:solidFill>
              </a:rPr>
              <a:t>100-bike scale case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796528" y="4723257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≈ R160k monthly OPEX delta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8368" y="552983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1D"/>
                </a:solidFill>
              </a:rPr>
              <a:t>What Checkers is really buying with the pilot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8368" y="5958459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63"/>
                </a:solidFill>
              </a:rPr>
              <a:t>A low-cost way to measure if part of the fleet can be insulated from fuel volatility without compromising the delivery promise.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FBAAB5-07C6-3CE3-BAB8-F463F8634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6480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operating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21630"/>
            <a:ext cx="9180151" cy="33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pitch is not “buy a bike.” The pitch is a controlled operating system: vehicle, charging and service bundled around one pilot.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337560" cy="45262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pic>
        <p:nvPicPr>
          <p:cNvPr id="5" name="Image 0" descr="/mnt/data/bigboy-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37360"/>
            <a:ext cx="2761488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9908" y="35707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D"/>
                </a:solidFill>
              </a:rPr>
              <a:t>1. Vehicle layer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6112" y="40462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B63"/>
                </a:solidFill>
              </a:rPr>
              <a:t>Big Boy D-Lite E 3000W selected for commercial fit, low entry price, local dealer support and urban route compatibility.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32688" y="5065776"/>
            <a:ext cx="932688" cy="310896"/>
          </a:xfrm>
          <a:prstGeom prst="roundRect">
            <a:avLst>
              <a:gd name="adj" fmla="val 23529"/>
            </a:avLst>
          </a:prstGeom>
          <a:solidFill>
            <a:srgbClr val="EAEFE6"/>
          </a:solidFill>
          <a:ln w="12700">
            <a:solidFill>
              <a:srgbClr val="EAEF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1297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B3A"/>
                </a:solidFill>
              </a:rPr>
              <a:t>LOCAL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38528" y="5065776"/>
            <a:ext cx="1133856" cy="310896"/>
          </a:xfrm>
          <a:prstGeom prst="roundRect">
            <a:avLst>
              <a:gd name="adj" fmla="val 23529"/>
            </a:avLst>
          </a:prstGeom>
          <a:solidFill>
            <a:srgbClr val="EAEFE6"/>
          </a:solidFill>
          <a:ln w="12700">
            <a:solidFill>
              <a:srgbClr val="EAEF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48256" y="51297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B3A"/>
                </a:solidFill>
              </a:rPr>
              <a:t>COMMERCIAL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45536" y="5065776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EAEFE6"/>
          </a:solidFill>
          <a:ln w="12700">
            <a:solidFill>
              <a:srgbClr val="EAEF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55264" y="512978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B3A"/>
                </a:solidFill>
              </a:rPr>
              <a:t>EV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9372" y="3017520"/>
            <a:ext cx="502920" cy="502920"/>
          </a:xfrm>
          <a:prstGeom prst="chevron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2302" y="1417320"/>
            <a:ext cx="2971800" cy="4526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pic>
        <p:nvPicPr>
          <p:cNvPr id="16" name="Image 1" descr="/mnt/data/solar-ev-arc.jpg"/>
          <p:cNvPicPr>
            <a:picLocks noChangeAspect="1"/>
          </p:cNvPicPr>
          <p:nvPr/>
        </p:nvPicPr>
        <p:blipFill>
          <a:blip r:embed="rId4"/>
          <a:srcRect l="15723" r="15723"/>
          <a:stretch/>
        </p:blipFill>
        <p:spPr>
          <a:xfrm>
            <a:off x="5029201" y="1737360"/>
            <a:ext cx="2313432" cy="1463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94730" y="3551486"/>
            <a:ext cx="1602539" cy="18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1D"/>
                </a:solidFill>
              </a:rPr>
              <a:t>2. Charging layer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29201" y="3909060"/>
            <a:ext cx="231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B63"/>
                </a:solidFill>
              </a:rPr>
              <a:t>Solar-assisted or grid-backed depot charging delivered by a certified local installer under partner management.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159502" y="5038344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EDF6EA"/>
          </a:solidFill>
          <a:ln w="12700">
            <a:solidFill>
              <a:srgbClr val="EDF6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69230" y="5120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B3A"/>
                </a:solidFill>
              </a:rPr>
              <a:t>SOLAR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384054" y="5038344"/>
            <a:ext cx="859536" cy="310896"/>
          </a:xfrm>
          <a:prstGeom prst="roundRect">
            <a:avLst>
              <a:gd name="adj" fmla="val 23529"/>
            </a:avLst>
          </a:prstGeom>
          <a:solidFill>
            <a:srgbClr val="EDF6EA"/>
          </a:solidFill>
          <a:ln w="12700">
            <a:solidFill>
              <a:srgbClr val="EDF6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10528" y="51114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B3A"/>
                </a:solidFill>
              </a:rPr>
              <a:t>DEPOT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808976" y="3017520"/>
            <a:ext cx="502920" cy="502920"/>
          </a:xfrm>
          <a:prstGeom prst="chevron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412480" y="1417320"/>
            <a:ext cx="3108960" cy="45262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23376" y="18288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D"/>
                </a:solidFill>
              </a:rPr>
              <a:t>3. Service layer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723376" y="2243257"/>
            <a:ext cx="146304" cy="14630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961120" y="2271965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Fleet deployment and route selection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723376" y="2788920"/>
            <a:ext cx="146304" cy="14630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961120" y="28217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Maintenance coordination and spares planning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723376" y="3322833"/>
            <a:ext cx="146304" cy="14630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961120" y="3371531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D6B63"/>
                </a:solidFill>
              </a:rPr>
              <a:t>Pilot dashboard: cost, uptime, charging, rider feedback</a:t>
            </a:r>
            <a:endParaRPr lang="en-US" sz="1180" dirty="0"/>
          </a:p>
        </p:txBody>
      </p:sp>
      <p:sp>
        <p:nvSpPr>
          <p:cNvPr id="32" name="Shape 28"/>
          <p:cNvSpPr/>
          <p:nvPr/>
        </p:nvSpPr>
        <p:spPr>
          <a:xfrm>
            <a:off x="8726778" y="3888486"/>
            <a:ext cx="146304" cy="14630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961120" y="3912941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D6B63"/>
                </a:solidFill>
              </a:rPr>
              <a:t>Single point of accountability for pilot reporting</a:t>
            </a:r>
            <a:endParaRPr lang="en-US" sz="1180" dirty="0"/>
          </a:p>
        </p:txBody>
      </p:sp>
      <p:sp>
        <p:nvSpPr>
          <p:cNvPr id="34" name="Text 30"/>
          <p:cNvSpPr/>
          <p:nvPr/>
        </p:nvSpPr>
        <p:spPr>
          <a:xfrm>
            <a:off x="8726778" y="4521389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Core point for Checkers: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8723376" y="50566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1D"/>
                </a:solidFill>
              </a:rPr>
              <a:t>You test one accountable partner, not three disconnected vendors.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4D2DDE1-3164-EBDF-BB7C-A86F6A437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7865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D-Lite E is a credible pilot vehicle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01641"/>
            <a:ext cx="99818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test does not need the perfect future bike. It needs a low-risk, locally supportable platform with enough range to prove or disprove the operating case.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pic>
        <p:nvPicPr>
          <p:cNvPr id="5" name="Image 0" descr="/mnt/data/bigboy-r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9" y="1600200"/>
            <a:ext cx="2880360" cy="20901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9" y="38724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Big Boy D-Lite E 3000W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32688" y="4321497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63"/>
                </a:solidFill>
              </a:rPr>
              <a:t>Retail price anchor: R34,999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6B63"/>
                </a:solidFill>
              </a:rPr>
              <a:t>Commercial positioning: business deliveries, local commuting, security and patrol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32687" y="5157641"/>
            <a:ext cx="2512261" cy="20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Why this matters for the pilot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2687" y="5558063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Local dealer availability lowers procurement friction and makes the first test easier to start.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66360" y="1444752"/>
            <a:ext cx="278892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0952" y="1517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63"/>
                </a:solidFill>
              </a:rPr>
              <a:t>Top speed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30952" y="17556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70 km/h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57032" y="1444752"/>
            <a:ext cx="278892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21624" y="1517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63"/>
                </a:solidFill>
              </a:rPr>
              <a:t>Range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421624" y="1932999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90–100 km @ 70 km/h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up to 130 km @ 45 km/h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66360" y="2953512"/>
            <a:ext cx="2788920" cy="1170432"/>
          </a:xfrm>
          <a:prstGeom prst="roundRect">
            <a:avLst>
              <a:gd name="adj" fmla="val 3906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30952" y="3099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63"/>
                </a:solidFill>
              </a:rPr>
              <a:t>Recharge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30952" y="3319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5–6 hours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57032" y="2953512"/>
            <a:ext cx="278892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21624" y="3099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63"/>
                </a:solidFill>
              </a:rPr>
              <a:t>Torque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421624" y="3319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140 Nm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166360" y="4462272"/>
            <a:ext cx="278892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0952" y="4608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63"/>
                </a:solidFill>
              </a:rPr>
              <a:t>Battery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330952" y="48280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72V 45Ah lithium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257032" y="4462272"/>
            <a:ext cx="278892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21624" y="4608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6B63"/>
                </a:solidFill>
              </a:rPr>
              <a:t>Payload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21624" y="48280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1D"/>
                </a:solidFill>
              </a:rPr>
              <a:t>110 kg max load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166360" y="59070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3A"/>
                </a:solidFill>
              </a:rPr>
              <a:t>Pilot interpretation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28232" y="5870448"/>
            <a:ext cx="5402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This vehicle is good enough to validate economics, rider workflow, charging logic and service support before you discuss a broader enterprise fleet configuration.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1A40EFA-5541-82AC-51E7-C16267A7C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7947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pilot proposal for Checkers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00435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test small, measurable and operationally boring. The goal is not hype. The goal is credible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57349"/>
            <a:ext cx="292608" cy="292608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07008" y="1810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3A"/>
                </a:solidFill>
              </a:rPr>
              <a:t>Weeks 1–2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2215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D"/>
                </a:solidFill>
              </a:rPr>
              <a:t>Deployment setup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570954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5D6B63"/>
                </a:solidFill>
              </a:rPr>
              <a:t>Confirm store cluster, route design, riders, maintenance path and charging depot.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474720" y="160020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765430"/>
            <a:ext cx="292608" cy="292608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1810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3A"/>
                </a:solidFill>
              </a:rPr>
              <a:t>Weeks 3–6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95344" y="2186905"/>
            <a:ext cx="1682496" cy="26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D"/>
                </a:solidFill>
              </a:rPr>
              <a:t>Live operations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21024" y="2561384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5D6B63"/>
                </a:solidFill>
              </a:rPr>
              <a:t>Run 10 bikes on selected routes and track service speed, range, energy and downtime.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291072" y="160020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1757349"/>
            <a:ext cx="292608" cy="292608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39712" y="1810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3A"/>
                </a:solidFill>
              </a:rPr>
              <a:t>Weeks 7–10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21424" y="220370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D"/>
                </a:solidFill>
              </a:rPr>
              <a:t>Optimization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83096" y="2518640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5D6B63"/>
                </a:solidFill>
              </a:rPr>
              <a:t>Adjust route assignment, charging windows, rider practices and spares management.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9107424" y="1600200"/>
            <a:ext cx="2542032" cy="29718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8518" y="1765430"/>
            <a:ext cx="292608" cy="292608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1856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56064" y="1810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3A"/>
                </a:solidFill>
              </a:rPr>
              <a:t>Weeks 11–12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55480" y="22357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1D"/>
                </a:solidFill>
              </a:rPr>
              <a:t>Executive review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81160" y="2466860"/>
            <a:ext cx="21579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5D6B63"/>
                </a:solidFill>
              </a:rPr>
              <a:t>Compare cost and service data against the fuel baseline and decide: stop, extend or scale.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694944" y="4830690"/>
            <a:ext cx="2063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Pilot success metrics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" y="5321808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25780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63"/>
                </a:solidFill>
              </a:rPr>
              <a:t>Cost per operating bike per month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4944" y="5577840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51383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63"/>
                </a:solidFill>
              </a:rPr>
              <a:t>On-time delivery performance vs. baseline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4944" y="5833872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7698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63"/>
                </a:solidFill>
              </a:rPr>
              <a:t>Average daily range and recharge behavior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4944" y="6089904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602589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63"/>
                </a:solidFill>
              </a:rPr>
              <a:t>Mechanical downtime and battery-related events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" y="6345936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628192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63"/>
                </a:solidFill>
              </a:rPr>
              <a:t>Rider feedback and route suitability by store cluster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15200" y="4846320"/>
            <a:ext cx="4160520" cy="13258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4994" y="5020747"/>
            <a:ext cx="2112264" cy="28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6B3A"/>
                </a:solidFill>
              </a:rPr>
              <a:t>Decision gate at day 90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634602" y="5481296"/>
            <a:ext cx="3520440" cy="42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5D6B63"/>
                </a:solidFill>
              </a:rPr>
              <a:t>If economics hold and service levels remain intact, move to a second-phase fleet cluster with better procurement terms and a formal service agreement.</a:t>
            </a:r>
            <a:endParaRPr lang="en-US" sz="113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CA31EE1-B5DF-CF2C-EF77-F5663CE0F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could go wrong — and how the pilot controls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Executives say yes when the test is structured to answer the hard questions upfront.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609344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444752"/>
            <a:ext cx="2514600" cy="457200"/>
          </a:xfrm>
          <a:prstGeom prst="roundRect">
            <a:avLst>
              <a:gd name="adj" fmla="val 6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7228" y="1581912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2120" y="1444752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0136" y="1579573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Pilot control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1444752"/>
            <a:ext cx="2880360" cy="457200"/>
          </a:xfrm>
          <a:prstGeom prst="roundRect">
            <a:avLst>
              <a:gd name="adj" fmla="val 6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23376" y="1606793"/>
            <a:ext cx="266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read-through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938528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103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F2A1D"/>
                </a:solidFill>
              </a:rPr>
              <a:t>Range under real load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2962656" y="20665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Bike underperforms on heavier or longer routes.</a:t>
            </a:r>
          </a:p>
        </p:txBody>
      </p:sp>
      <p:sp>
        <p:nvSpPr>
          <p:cNvPr id="15" name="Text 13"/>
          <p:cNvSpPr/>
          <p:nvPr/>
        </p:nvSpPr>
        <p:spPr>
          <a:xfrm>
            <a:off x="5660136" y="2048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Start with route classes inside a conservative daily range envelope and capture real-world usage before scale.</a:t>
            </a:r>
          </a:p>
        </p:txBody>
      </p:sp>
      <p:sp>
        <p:nvSpPr>
          <p:cNvPr id="16" name="Text 14"/>
          <p:cNvSpPr/>
          <p:nvPr/>
        </p:nvSpPr>
        <p:spPr>
          <a:xfrm>
            <a:off x="8723376" y="2103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6B3A"/>
                </a:solidFill>
              </a:rPr>
              <a:t>Pilot absorbs the uncertainty before scale.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" y="2724912"/>
            <a:ext cx="10972800" cy="658368"/>
          </a:xfrm>
          <a:prstGeom prst="rect">
            <a:avLst/>
          </a:prstGeom>
          <a:solidFill>
            <a:srgbClr val="F2F6F0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8895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F2A1D"/>
                </a:solidFill>
              </a:rPr>
              <a:t>Charging downtime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2962656" y="285292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Poor charging discipline creates missed availability.</a:t>
            </a:r>
          </a:p>
        </p:txBody>
      </p:sp>
      <p:sp>
        <p:nvSpPr>
          <p:cNvPr id="20" name="Text 18"/>
          <p:cNvSpPr/>
          <p:nvPr/>
        </p:nvSpPr>
        <p:spPr>
          <a:xfrm>
            <a:off x="5660136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Use depot charging windows, backup grid option, and a simple charging roster from day one.</a:t>
            </a:r>
          </a:p>
        </p:txBody>
      </p:sp>
      <p:sp>
        <p:nvSpPr>
          <p:cNvPr id="21" name="Text 19"/>
          <p:cNvSpPr/>
          <p:nvPr/>
        </p:nvSpPr>
        <p:spPr>
          <a:xfrm>
            <a:off x="8723376" y="28895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6B3A"/>
                </a:solidFill>
              </a:rPr>
              <a:t>Pilot absorbs the uncertainty before scale.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8368" y="3511296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6758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F2A1D"/>
                </a:solidFill>
              </a:rPr>
              <a:t>Maintenance response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2962656" y="36393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A single bike failure hurts confidence in the whole pilot.</a:t>
            </a:r>
          </a:p>
        </p:txBody>
      </p:sp>
      <p:sp>
        <p:nvSpPr>
          <p:cNvPr id="25" name="Text 23"/>
          <p:cNvSpPr/>
          <p:nvPr/>
        </p:nvSpPr>
        <p:spPr>
          <a:xfrm>
            <a:off x="5660136" y="3621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Agree service turnaround and spares availability with Big Boy before deployment.</a:t>
            </a:r>
          </a:p>
        </p:txBody>
      </p:sp>
      <p:sp>
        <p:nvSpPr>
          <p:cNvPr id="26" name="Text 24"/>
          <p:cNvSpPr/>
          <p:nvPr/>
        </p:nvSpPr>
        <p:spPr>
          <a:xfrm>
            <a:off x="8723376" y="3675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6B3A"/>
                </a:solidFill>
              </a:rPr>
              <a:t>Pilot absorbs the uncertainty before scale.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58368" y="4297680"/>
            <a:ext cx="10972800" cy="658368"/>
          </a:xfrm>
          <a:prstGeom prst="rect">
            <a:avLst/>
          </a:prstGeom>
          <a:solidFill>
            <a:srgbClr val="F2F6F0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462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F2A1D"/>
                </a:solidFill>
              </a:rPr>
              <a:t>Rider adoption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2962656" y="442569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Riders may resist workflow changes or charging routines.</a:t>
            </a:r>
          </a:p>
        </p:txBody>
      </p:sp>
      <p:sp>
        <p:nvSpPr>
          <p:cNvPr id="30" name="Text 28"/>
          <p:cNvSpPr/>
          <p:nvPr/>
        </p:nvSpPr>
        <p:spPr>
          <a:xfrm>
            <a:off x="5660136" y="44074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Train on rider workflow, assign champion riders, and collect weekly feedback.</a:t>
            </a:r>
          </a:p>
        </p:txBody>
      </p:sp>
      <p:sp>
        <p:nvSpPr>
          <p:cNvPr id="31" name="Text 29"/>
          <p:cNvSpPr/>
          <p:nvPr/>
        </p:nvSpPr>
        <p:spPr>
          <a:xfrm>
            <a:off x="8723376" y="44622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6B3A"/>
                </a:solidFill>
              </a:rPr>
              <a:t>Pilot absorbs the uncertainty before scale.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58368" y="5084064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2486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0F2A1D"/>
                </a:solidFill>
              </a:rPr>
              <a:t>Pilot economics disappoint</a:t>
            </a:r>
            <a:endParaRPr lang="en-US" sz="1160" dirty="0"/>
          </a:p>
        </p:txBody>
      </p:sp>
      <p:sp>
        <p:nvSpPr>
          <p:cNvPr id="34" name="Text 32"/>
          <p:cNvSpPr/>
          <p:nvPr/>
        </p:nvSpPr>
        <p:spPr>
          <a:xfrm>
            <a:off x="2962656" y="5212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Savings may not justify a broader rollout.</a:t>
            </a:r>
          </a:p>
        </p:txBody>
      </p:sp>
      <p:sp>
        <p:nvSpPr>
          <p:cNvPr id="35" name="Text 33"/>
          <p:cNvSpPr/>
          <p:nvPr/>
        </p:nvSpPr>
        <p:spPr>
          <a:xfrm>
            <a:off x="5660136" y="5193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/>
              <a:t>That is exactly what the 90-day pilot is designed to prove or reject early.</a:t>
            </a:r>
          </a:p>
        </p:txBody>
      </p:sp>
      <p:sp>
        <p:nvSpPr>
          <p:cNvPr id="36" name="Text 34"/>
          <p:cNvSpPr/>
          <p:nvPr/>
        </p:nvSpPr>
        <p:spPr>
          <a:xfrm>
            <a:off x="8723376" y="5248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6B3A"/>
                </a:solidFill>
              </a:rPr>
              <a:t>A disciplined “no” is still a good outcome.</a:t>
            </a:r>
            <a:endParaRPr lang="en-US" sz="10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865C1F6-328A-70F0-3503-8BE1F508E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40233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 to Checkers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442" y="841248"/>
            <a:ext cx="8042255" cy="269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intentionally simple: approve a low-risk test with a tight scope, defined measures and a hard decision gate.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" y="1287390"/>
            <a:ext cx="2959680" cy="269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We are asking for three things only.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1. Pilot sponsorship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19568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A single internal owner from operations or on-demand delivery to coordinate route access, baseline metrics and review cadence.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" y="2816352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181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2. Limited route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3047079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One store cluster or micro-region where 10 bikes can be tested without changing the broader operating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" y="3895344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04539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3. Data cooperation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4133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Fuel baseline, route volume, service timing and rider feedback needed to judge the pilot honestly.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549802"/>
            <a:ext cx="4754880" cy="4659612"/>
          </a:xfrm>
          <a:prstGeom prst="roundRect">
            <a:avLst>
              <a:gd name="adj" fmla="val 1794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193129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Why an executive can say “let’s test this”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876288" y="2834640"/>
            <a:ext cx="91440" cy="91440"/>
          </a:xfrm>
          <a:prstGeom prst="ellipse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27614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8F4EC"/>
                </a:solidFill>
              </a:rPr>
              <a:t>No full-fleet commitment required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876288" y="3291840"/>
            <a:ext cx="91440" cy="91440"/>
          </a:xfrm>
          <a:prstGeom prst="ellipse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3218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8F4EC"/>
                </a:solidFill>
              </a:rPr>
              <a:t>Pilot is reversible if the numbers fail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76288" y="3749040"/>
            <a:ext cx="91440" cy="91440"/>
          </a:xfrm>
          <a:prstGeom prst="ellipse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7456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8F4EC"/>
                </a:solidFill>
              </a:rPr>
              <a:t>Brand upside: visible sustainability action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876288" y="4206240"/>
            <a:ext cx="91440" cy="91440"/>
          </a:xfrm>
          <a:prstGeom prst="ellipse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4133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8F4EC"/>
                </a:solidFill>
              </a:rPr>
              <a:t>Operational upside: potential fuel insulation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876288" y="4663440"/>
            <a:ext cx="91440" cy="91440"/>
          </a:xfrm>
          <a:prstGeom prst="ellipse">
            <a:avLst/>
          </a:prstGeom>
          <a:solidFill>
            <a:srgbClr val="B5D47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45902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8F4EC"/>
                </a:solidFill>
              </a:rPr>
              <a:t>Scale case only happens if the pilot proves itself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876288" y="5064500"/>
            <a:ext cx="2448465" cy="301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D47A"/>
                </a:solidFill>
              </a:rPr>
              <a:t>Recommended decision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76288" y="5614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Approve a 90-day pilot and judge the result on cost, uptime and service impact — not on theory.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C3FE0AA-A01D-447B-373A-E6C3FB4DB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597" y="41148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Big Boy should support the rollout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8597" y="91897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not approaching Big Boy as a retail buyer. You are approaching them as a fleet channel.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400414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pic>
        <p:nvPicPr>
          <p:cNvPr id="5" name="Image 0" descr="/mnt/data/bigboy-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00200"/>
            <a:ext cx="2743200" cy="2203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2140" y="4052493"/>
            <a:ext cx="201168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D"/>
                </a:solidFill>
              </a:rPr>
              <a:t>What Big Boy gets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923544" y="4407408"/>
            <a:ext cx="73152" cy="105156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4453128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D6B63"/>
                </a:solidFill>
              </a:rPr>
              <a:t>Corporate fleet volume instead of one-off retail sales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950976" y="4818888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777740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D6B63"/>
                </a:solidFill>
              </a:rPr>
              <a:t>A live enterprise use case for the D-Lite E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950976" y="5111496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51023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D6B63"/>
                </a:solidFill>
              </a:rPr>
              <a:t>Visibility into a national growth channel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950976" y="5404104"/>
            <a:ext cx="73152" cy="73152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543557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D6B63"/>
                </a:solidFill>
              </a:rPr>
              <a:t>Feedback loop to improve future fleet specification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773168" y="1444752"/>
            <a:ext cx="6675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7488" y="17739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1D"/>
                </a:solidFill>
              </a:rPr>
              <a:t>What you ask Big Boy for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47488" y="2212848"/>
            <a:ext cx="6080760" cy="475488"/>
          </a:xfrm>
          <a:prstGeom prst="roundRect">
            <a:avLst>
              <a:gd name="adj" fmla="val 5769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2394239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1D"/>
                </a:solidFill>
              </a:rPr>
              <a:t>Fleet pricing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29400" y="240487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A bulk price that creates room for a lease or managed-service model.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47488" y="2852928"/>
            <a:ext cx="6080760" cy="475488"/>
          </a:xfrm>
          <a:prstGeom prst="roundRect">
            <a:avLst>
              <a:gd name="adj" fmla="val 5769"/>
            </a:avLst>
          </a:prstGeom>
          <a:solidFill>
            <a:srgbClr val="F8FAF6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3036659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1D"/>
                </a:solidFill>
              </a:rPr>
              <a:t>Demo / pilot support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29400" y="3040061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Priority allocation for 10 pilot bikes and pre-agreed parts availability.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47488" y="3493008"/>
            <a:ext cx="6080760" cy="475488"/>
          </a:xfrm>
          <a:prstGeom prst="roundRect">
            <a:avLst>
              <a:gd name="adj" fmla="val 5769"/>
            </a:avLst>
          </a:prstGeom>
          <a:solidFill>
            <a:srgbClr val="F8FAF6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0368" y="366355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1D"/>
                </a:solidFill>
              </a:rPr>
              <a:t>Service SLA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29400" y="366802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Named service contact, response times and spares pathway during the pilot.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47488" y="4133088"/>
            <a:ext cx="6080760" cy="475488"/>
          </a:xfrm>
          <a:prstGeom prst="roundRect">
            <a:avLst>
              <a:gd name="adj" fmla="val 5769"/>
            </a:avLst>
          </a:prstGeom>
          <a:solidFill>
            <a:srgbClr val="F8FAF6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0368" y="426110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1D"/>
                </a:solidFill>
              </a:rPr>
              <a:t>Brand cooperation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29400" y="4290663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Permission to position Big Boy as the vehicle platform in enterprise pitches.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47488" y="4773168"/>
            <a:ext cx="6080760" cy="475488"/>
          </a:xfrm>
          <a:prstGeom prst="roundRect">
            <a:avLst>
              <a:gd name="adj" fmla="val 5769"/>
            </a:avLst>
          </a:prstGeom>
          <a:solidFill>
            <a:srgbClr val="F8FAF6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30368" y="49377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1D"/>
                </a:solidFill>
              </a:rPr>
              <a:t>Scale trigger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29400" y="49377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Improved terms if the pilot converts into a larger fleet contract.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E3C04A7-A405-A706-9E5D-AAAE28AD6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Big Boy negotiation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95097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ask for “support.” Ask for specific terms tied to a measurable fleet opportunity.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19072"/>
            <a:ext cx="26687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1. Open with volume logic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6916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“I am not here to buy one scooter. I am building a fleet channel into enterprise delivery operations.”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23923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2. Ask for pilot economics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2424" y="251460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Target a pilot price below retail, ideally with room for service margin and demo flexibility.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163824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EDF6EA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23923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3. Tie support to conversion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364992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“If the pilot converts, you become the preferred vehicle platform for the next rollout phase.”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014216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42817"/>
            <a:ext cx="2194560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4. Negotiate service before price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92424" y="4189653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Price matters, but uptime will kill the deal faster than a weak discount. Get service response commitments in writing.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864608"/>
            <a:ext cx="10972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114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5. Secure scale ratchets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5039833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B63"/>
                </a:solidFill>
              </a:rPr>
              <a:t>Ask for improved pricing bands at 10, 50 and 100 bikes so the economics improve as rollout expands.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916168"/>
            <a:ext cx="10972800" cy="457200"/>
          </a:xfrm>
          <a:prstGeom prst="roundRect">
            <a:avLst>
              <a:gd name="adj" fmla="val 6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576" y="6099048"/>
            <a:ext cx="10707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Target term sheet for the first meeting: fleet price band • pilot allocation • spares commitment • named service contact • scale discounts • co-branding permission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970C8F5-7C9B-1B6D-ECA1-2675E02F1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41148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this talk track with Big Boy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94944" y="91440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to sound commercial, not speculative. Lead with demand, then ask for terms.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4944" y="1339702"/>
            <a:ext cx="10972800" cy="4347866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C6D2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874520"/>
            <a:ext cx="100584" cy="10058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78435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63"/>
                </a:solidFill>
              </a:rPr>
              <a:t>“I am building a managed e-delivery pilot for enterprise clients. The first target is a controlled 90-day test, not a retail sale.”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87552" y="2542032"/>
            <a:ext cx="100584" cy="10058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256095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1D"/>
                </a:solidFill>
              </a:rPr>
              <a:t>“I want Big Boy as the vehicle platform because the D-Lite E gives me a local, commercially positioned EV with a realistic entry price.”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87552" y="3209544"/>
            <a:ext cx="100584" cy="10058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1232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63"/>
                </a:solidFill>
              </a:rPr>
              <a:t>“To make this work, I need fleet pricing, service responsiveness, parts availability and clear expansion terms if the pilot converts.”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877056"/>
            <a:ext cx="100584" cy="10058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3870039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63"/>
                </a:solidFill>
              </a:rPr>
              <a:t>“If I win the client and the pilot expands, Big Boy becomes the preferred supplier for the next rollout phase. If the pilot fails, we both learn cheaply.”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4544568"/>
            <a:ext cx="100584" cy="100584"/>
          </a:xfrm>
          <a:prstGeom prst="ellipse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4467907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63"/>
                </a:solidFill>
              </a:rPr>
              <a:t>“I am not asking you to take all the risk. I am asking you to help me build a fleet channel you do not currently own.”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5943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3A"/>
                </a:solidFill>
              </a:rPr>
              <a:t>Close the meeting with a concrete ask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5907024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1D"/>
                </a:solidFill>
              </a:rPr>
              <a:t>“If I send you a simple pilot term sheet this week, can you revert with fleet pricing, pilot support terms and service coverage within five working days?”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41FC02-C3CD-1EDE-9B09-91EEACC21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ChangeAspect="1"/>
          </p:cNvSpPr>
          <p:nvPr/>
        </p:nvSpPr>
        <p:spPr>
          <a:xfrm>
            <a:off x="0" y="-45720"/>
            <a:ext cx="12188952" cy="6858000"/>
          </a:xfrm>
          <a:prstGeom prst="rect">
            <a:avLst/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8503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" y="182880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214D36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1226" y="19933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D47A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Lock the Big Boy meeting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50976" y="33832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Get price, service and pilot support terms on the table.</a:t>
            </a:r>
          </a:p>
        </p:txBody>
      </p:sp>
      <p:sp>
        <p:nvSpPr>
          <p:cNvPr id="8" name="Shape 6"/>
          <p:cNvSpPr/>
          <p:nvPr/>
        </p:nvSpPr>
        <p:spPr>
          <a:xfrm>
            <a:off x="4553712" y="182880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163E2A"/>
          </a:solidFill>
          <a:ln w="12700">
            <a:solidFill>
              <a:srgbClr val="B5D4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9933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D47A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18304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Refine the pilot economics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18304" y="33375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Tailor the model to one real Checkers route cluster.</a:t>
            </a:r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214D36"/>
          </a:solidFill>
          <a:ln w="12700">
            <a:solidFill>
              <a:srgbClr val="92D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9933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D47A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85632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Pitch for the test — not the rollout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58784" y="3273552"/>
            <a:ext cx="2624328" cy="76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Ask Checkers for a 90-day controlled pilot, not a national commitment.</a:t>
            </a:r>
          </a:p>
        </p:txBody>
      </p:sp>
      <p:sp>
        <p:nvSpPr>
          <p:cNvPr id="16" name="Text 14"/>
          <p:cNvSpPr/>
          <p:nvPr/>
        </p:nvSpPr>
        <p:spPr>
          <a:xfrm>
            <a:off x="786384" y="53309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objective is simple: create enough proof for a rational executive to say “let’s test this.”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6384" y="59938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DC0"/>
                </a:solidFill>
              </a:rPr>
              <a:t>Prepared as a founder-facing pitch draft. Validate all economics with live route data before external use.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C75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A22CF1-682A-1AA1-98E1-C4703BE96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81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588334" cy="559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2294</Words>
  <Application>Microsoft Office PowerPoint</Application>
  <PresentationFormat>Widescreen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Solar-Powered Delivery Fleet Pilot</dc:title>
  <dc:subject>Electric delivery fleet pilot pitch</dc:subject>
  <dc:creator>OpenAI</dc:creator>
  <cp:lastModifiedBy>Love Hope</cp:lastModifiedBy>
  <cp:revision>2</cp:revision>
  <dcterms:created xsi:type="dcterms:W3CDTF">2026-03-11T21:53:00Z</dcterms:created>
  <dcterms:modified xsi:type="dcterms:W3CDTF">2026-03-12T00:43:07Z</dcterms:modified>
</cp:coreProperties>
</file>